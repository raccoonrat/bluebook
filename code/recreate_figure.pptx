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6577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840480" cy="2743200"/>
          </a:xfrm>
          <a:prstGeom prst="roundRect">
            <a:avLst/>
          </a:prstGeom>
          <a:solidFill>
            <a:srgbClr val="DDEEF8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3840480" cy="365760"/>
          </a:xfrm>
          <a:prstGeom prst="roundRect">
            <a:avLst/>
          </a:prstGeom>
          <a:solidFill>
            <a:srgbClr val="4E97CC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548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90880" y="1016000"/>
            <a:ext cx="4470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0880" y="1168400"/>
            <a:ext cx="4470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0880" y="1320800"/>
            <a:ext cx="4470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Deployable</a:t>
            </a:r>
            <a:br/>
            <a:r>
              <a:t>Conclusions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91440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74520.0" y="965200"/>
            <a:ext cx="0.0" cy="53848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5280" y="1234440.0"/>
            <a:ext cx="538480" cy="0.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05280" y="965200"/>
            <a:ext cx="218440" cy="21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11111"/>
                </a:solidFill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5320" y="965200"/>
            <a:ext cx="218440" cy="21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11111"/>
                </a:solidFill>
              </a:defRPr>
            </a:pPr>
            <a:r>
              <a:t>Utility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5280" y="1285240"/>
            <a:ext cx="218440" cy="21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11111"/>
                </a:solidFill>
              </a:defRPr>
            </a:pPr>
            <a:r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5320" y="1285240"/>
            <a:ext cx="218440" cy="21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11111"/>
                </a:solidFill>
              </a:defRPr>
            </a:pPr>
            <a:r>
              <a:t>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Metrics 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914400"/>
            <a:ext cx="274320" cy="109728"/>
          </a:xfrm>
          <a:prstGeom prst="rect">
            <a:avLst/>
          </a:prstGeom>
          <a:solidFill>
            <a:srgbClr val="F5F5F5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1024128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Acceptance</a:t>
            </a:r>
            <a:br/>
            <a:r>
              <a:t>Contract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89120" y="1645920"/>
            <a:ext cx="914400" cy="457200"/>
          </a:xfrm>
          <a:prstGeom prst="rightArrow">
            <a:avLst/>
          </a:prstGeom>
          <a:solidFill>
            <a:srgbClr val="5B9BD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463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11111"/>
                </a:solidFill>
              </a:defRPr>
            </a:pPr>
            <a:r>
              <a:t>Track A Evidence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3840480" cy="2743200"/>
          </a:xfrm>
          <a:prstGeom prst="roundRect">
            <a:avLst/>
          </a:prstGeom>
          <a:solidFill>
            <a:srgbClr val="F9E3D8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474720"/>
            <a:ext cx="3840480" cy="365760"/>
          </a:xfrm>
          <a:prstGeom prst="roundRect">
            <a:avLst/>
          </a:prstGeom>
          <a:solidFill>
            <a:srgbClr val="F39A7A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0000"/>
                </a:solidFill>
              </a:defRPr>
            </a:pPr>
            <a:r>
              <a:t>No Mixing Into Track 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389120" y="4572000"/>
            <a:ext cx="914400" cy="457200"/>
          </a:xfrm>
          <a:prstGeom prst="rightArrow">
            <a:avLst/>
          </a:prstGeom>
          <a:solidFill>
            <a:srgbClr val="F4A26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389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11111"/>
                </a:solidFill>
              </a:defRPr>
            </a:pPr>
            <a:r>
              <a:t>Track B Mechanism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57200"/>
            <a:ext cx="1645920" cy="5760720"/>
          </a:xfrm>
          <a:prstGeom prst="roundRect">
            <a:avLst/>
          </a:prstGeom>
          <a:solidFill>
            <a:srgbClr val="E8E8E8"/>
          </a:solidFill>
          <a:ln w="22860">
            <a:solidFill>
              <a:srgbClr val="6E6E6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457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Shared Backbone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914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CI/CD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280160"/>
            <a:ext cx="640080" cy="640080"/>
          </a:xfrm>
          <a:prstGeom prst="rect">
            <a:avLst/>
          </a:prstGeom>
          <a:solidFill>
            <a:srgbClr val="F0F0F0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11520" y="1408176"/>
            <a:ext cx="538480" cy="96012"/>
          </a:xfrm>
          <a:prstGeom prst="rect">
            <a:avLst/>
          </a:prstGeom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11520" y="1568196"/>
            <a:ext cx="538480" cy="96012"/>
          </a:xfrm>
          <a:prstGeom prst="rect">
            <a:avLst/>
          </a:prstGeom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11520" y="1728216"/>
            <a:ext cx="538480" cy="96012"/>
          </a:xfrm>
          <a:prstGeom prst="rect">
            <a:avLst/>
          </a:prstGeom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Runtime Execution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4389120"/>
            <a:ext cx="640080" cy="192024"/>
          </a:xfrm>
          <a:prstGeom prst="ellipse">
            <a:avLst/>
          </a:prstGeom>
          <a:solidFill>
            <a:srgbClr val="F5F5F5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4485132"/>
            <a:ext cx="6400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20" y="4773168"/>
            <a:ext cx="640080" cy="192024"/>
          </a:xfrm>
          <a:prstGeom prst="ellipse">
            <a:avLst/>
          </a:prstGeom>
          <a:solidFill>
            <a:srgbClr val="F5F5F5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79" y="457200"/>
            <a:ext cx="3474720" cy="4572000"/>
          </a:xfrm>
          <a:prstGeom prst="roundRect">
            <a:avLst/>
          </a:prstGeom>
          <a:solidFill>
            <a:srgbClr val="B9E3C7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57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t>Unified Governance 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914400"/>
            <a:ext cx="2926080" cy="3657600"/>
          </a:xfrm>
          <a:prstGeom prst="roundRect">
            <a:avLst/>
          </a:prstGeom>
          <a:solidFill>
            <a:srgbClr val="DFF2E4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1005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111"/>
                </a:solidFill>
              </a:defRPr>
            </a:pPr>
            <a:r>
              <a:t>Evidence-Referenced Decision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47120" y="457200"/>
            <a:ext cx="1371600" cy="5029200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Decision Cards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430000" y="914400"/>
            <a:ext cx="1005840" cy="822960"/>
          </a:xfrm>
          <a:prstGeom prst="roundRect">
            <a:avLst/>
          </a:prstGeom>
          <a:solidFill>
            <a:srgbClr val="9DCE9A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0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Release card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0" y="1920240"/>
            <a:ext cx="1005840" cy="822960"/>
          </a:xfrm>
          <a:prstGeom prst="roundRect">
            <a:avLst/>
          </a:prstGeom>
          <a:solidFill>
            <a:srgbClr val="F6DB7C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11111"/>
                </a:solidFill>
              </a:defRPr>
            </a:pPr>
            <a:r>
              <a:t>Reduced-capability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0" y="2926080"/>
            <a:ext cx="1005840" cy="822960"/>
          </a:xfrm>
          <a:prstGeom prst="roundRect">
            <a:avLst/>
          </a:prstGeom>
          <a:solidFill>
            <a:srgbClr val="94C7F2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704320" y="3108960"/>
            <a:ext cx="365760" cy="219456"/>
          </a:xfrm>
          <a:prstGeom prst="ellipse">
            <a:avLst/>
          </a:prstGeom>
          <a:solidFill>
            <a:srgbClr val="94C7F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11777472" y="3182112"/>
            <a:ext cx="109728" cy="109728"/>
          </a:xfrm>
          <a:prstGeom prst="triangle">
            <a:avLst/>
          </a:prstGeom>
          <a:solidFill>
            <a:srgbClr val="94C7F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0" y="3474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Canary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0" y="3931920"/>
            <a:ext cx="1005840" cy="822960"/>
          </a:xfrm>
          <a:prstGeom prst="roundRect">
            <a:avLst/>
          </a:prstGeom>
          <a:solidFill>
            <a:srgbClr val="E97D7D"/>
          </a:solidFill>
          <a:ln w="22860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ircular Arrow 54"/>
          <p:cNvSpPr/>
          <p:nvPr/>
        </p:nvSpPr>
        <p:spPr>
          <a:xfrm>
            <a:off x="11704320" y="4023360"/>
            <a:ext cx="457200" cy="457200"/>
          </a:xfrm>
          <a:prstGeom prst="circularArrow">
            <a:avLst/>
          </a:prstGeom>
          <a:solidFill>
            <a:srgbClr val="E97D7D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0000" y="4480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t>Rollback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286000" y="6217920"/>
            <a:ext cx="3657600" cy="0"/>
          </a:xfrm>
          <a:prstGeom prst="line">
            <a:avLst/>
          </a:prstGeom>
          <a:ln w="12700">
            <a:solidFill>
              <a:srgbClr val="6464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657600" y="6035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11111"/>
                </a:solidFill>
              </a:defRPr>
            </a:pPr>
            <a:r>
              <a:t>Mechanism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